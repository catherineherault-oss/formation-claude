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L'achat alimentaire en vente directe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D8E8DC"/>
                </a:solidFill>
                <a:latin typeface="Calibri"/>
              </a:rPr>
              <a:t>Quelle place dans les stratégies d'approvisionnement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D8E8DC"/>
                </a:solidFill>
                <a:latin typeface="Calibri"/>
              </a:rPr>
              <a:t>des ménages français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9D4C0"/>
                </a:solidFill>
                <a:latin typeface="Calibri"/>
              </a:rPr>
              <a:t>Enquête représentative nationale · 1 025 ménages · 13 canaux d'achat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B9D4C0"/>
                </a:solidFill>
                <a:latin typeface="Calibri"/>
              </a:rPr>
              <a:t>Comité de pilotage —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228600" cy="2468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286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E5E3A"/>
                </a:solidFill>
                <a:latin typeface="Calibri"/>
              </a:rPr>
              <a:t>La vente directe est partout…</a:t>
            </a:r>
          </a:p>
          <a:p>
            <a:pPr algn="l">
              <a:lnSpc>
                <a:spcPct val="100000"/>
              </a:lnSpc>
            </a:pPr>
            <a:r>
              <a:rPr sz="4000" b="1">
                <a:solidFill>
                  <a:srgbClr val="2E5E3A"/>
                </a:solidFill>
                <a:latin typeface="Calibri"/>
              </a:rPr>
              <a:t>mais pèse presque rien.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106372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44444"/>
                </a:solidFill>
                <a:latin typeface="Calibri"/>
              </a:rPr>
              <a:t>2 ménages sur 3 y ont recours — mais elle reste un complément d'appoint, pas une alternative à la grande distribution.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Vente directe alimentaire — Comité de pilotage — Enquête 1 025 ménages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1.  Un paradoxe d'ampleur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200400" cy="155448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C0392B"/>
                </a:solidFill>
                <a:latin typeface="Calibri"/>
              </a:rPr>
              <a:t>65 %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des ménages achètent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en vente directe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3200400" cy="155448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C0392B"/>
                </a:solidFill>
                <a:latin typeface="Calibri"/>
              </a:rPr>
              <a:t>1,5 %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7764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seulement du budget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alimentaire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3200400" cy="155448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2E5E3A"/>
                </a:solidFill>
                <a:latin typeface="Calibri"/>
              </a:rPr>
              <a:t>58 %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6235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captés par le seul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hypermarché</a:t>
            </a:r>
          </a:p>
        </p:txBody>
      </p:sp>
      <p:pic>
        <p:nvPicPr>
          <p:cNvPr id="14" name="Picture 13" descr="fig1_part_budget_ca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325880"/>
            <a:ext cx="7792287" cy="4663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23360" y="617220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5E3A"/>
                </a:solidFill>
                <a:latin typeface="Calibri"/>
              </a:rPr>
              <a:t>→ Un canal de complémentarité ciblée, non de substitution.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Vente directe alimentaire — Comité de pilotage — Enquête 1 025 ménages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2.  Essayer n'est pas adopter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3840480" cy="155448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4C8C5A"/>
                </a:solidFill>
                <a:latin typeface="Calibri"/>
              </a:rPr>
              <a:t>65 %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15468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ont DÉJÀ acheté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en vente directe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468880"/>
            <a:ext cx="14630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0">
                <a:solidFill>
                  <a:srgbClr val="444444"/>
                </a:solidFill>
                <a:latin typeface="Calibri"/>
              </a:rPr>
              <a:t>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194560"/>
            <a:ext cx="3840480" cy="155448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C0392B"/>
                </a:solidFill>
                <a:latin typeface="Calibri"/>
              </a:rPr>
              <a:t>17 %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15468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achètent RÉGULIÈREMENT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(au moins 1×/mois)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6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E5E3A"/>
                </a:solidFill>
                <a:latin typeface="Calibri"/>
              </a:rPr>
              <a:t>Beaucoup essaient, peu installent la vente directe dans leurs habitudes.</a:t>
            </a:r>
          </a:p>
          <a:p>
            <a:pPr algn="l">
              <a:lnSpc>
                <a:spcPct val="100000"/>
              </a:lnSpc>
            </a:pPr>
            <a:r>
              <a:rPr sz="2200" b="1">
                <a:solidFill>
                  <a:srgbClr val="2E5E3A"/>
                </a:solidFill>
                <a:latin typeface="Calibri"/>
              </a:rPr>
              <a:t>Le vrai plafond de verre n'est pas l'adhésion, c'est LA RÉGULARITÉ.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Vente directe alimentaire — Comité de pilotage — Enquête 1 025 ménages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3.  Ce n'est pas une pratique de « niche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200" b="1">
                <a:solidFill>
                  <a:srgbClr val="444444"/>
                </a:solidFill>
                <a:latin typeface="Calibri"/>
              </a:rPr>
              <a:t>•  Le profil social explique TRÈS PEU qui achète en direct (modèle quasi sans pouvoir prédictif).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200" b="0">
                <a:solidFill>
                  <a:srgbClr val="444444"/>
                </a:solidFill>
                <a:latin typeface="Calibri"/>
              </a:rPr>
              <a:t>•  Les cadres y recourent un peu plus — mais l'écart reste modéré.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200" b="0">
                <a:solidFill>
                  <a:srgbClr val="444444"/>
                </a:solidFill>
                <a:latin typeface="Calibri"/>
              </a:rPr>
              <a:t>•  La pratique TRAVERSE toutes les catégories sociales et tous les âges.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200" b="0">
                <a:solidFill>
                  <a:srgbClr val="444444"/>
                </a:solidFill>
                <a:latin typeface="Calibri"/>
              </a:rPr>
              <a:t>•  Il existe même un groupe de ménages à PETIT BUDGET qui se fournit hors hypermarché, sur les marchés.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5E3A"/>
                </a:solidFill>
                <a:latin typeface="Calibri"/>
              </a:rPr>
              <a:t>→ Implication : cibler large. La vente directe n'est pas socialement clivante ; les dispositifs peuvent viser tous les publics, budgets modestes compris.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Vente directe alimentaire — Comité de pilotage — Enquête 1 025 ménages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4.  Cinq stratégies d'approvisionnement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789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1645920"/>
                <a:gridCol w="1645920"/>
                <a:gridCol w="164592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Stratégie</a:t>
                      </a:r>
                    </a:p>
                  </a:txBody>
                  <a:tcPr>
                    <a:solidFill>
                      <a:srgbClr val="2E5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>
                    <a:solidFill>
                      <a:srgbClr val="2E5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Ont essayé
la VD</a:t>
                      </a:r>
                    </a:p>
                  </a:txBody>
                  <a:tcPr>
                    <a:solidFill>
                      <a:srgbClr val="2E5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VD
régulière</a:t>
                      </a:r>
                    </a:p>
                  </a:txBody>
                  <a:tcPr>
                    <a:solidFill>
                      <a:srgbClr val="2E5E3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Généralistes (hyper + compléments)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61 %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Calibri"/>
                        </a:rPr>
                        <a:t>16 %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Captifs de la grande distribution</a:t>
                      </a:r>
                    </a:p>
                  </a:txBody>
                  <a:tcPr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24 %</a:t>
                      </a:r>
                    </a:p>
                  </a:txBody>
                  <a:tcPr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28 %</a:t>
                      </a:r>
                    </a:p>
                  </a:txBody>
                  <a:tcPr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Calibri"/>
                        </a:rPr>
                        <a:t>6 %</a:t>
                      </a:r>
                    </a:p>
                  </a:txBody>
                  <a:tcPr>
                    <a:solidFill>
                      <a:srgbClr val="F2F6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Omnivores engagés (vrais réguliers)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Calibri"/>
                        </a:rPr>
                        <a:t>67 %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Multi-canal conventionnels (essaient tout)</a:t>
                      </a:r>
                    </a:p>
                  </a:txBody>
                  <a:tcPr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5 %</a:t>
                      </a:r>
                    </a:p>
                  </a:txBody>
                  <a:tcPr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Calibri"/>
                        </a:rPr>
                        <a:t>19 %</a:t>
                      </a:r>
                    </a:p>
                  </a:txBody>
                  <a:tcPr>
                    <a:solidFill>
                      <a:srgbClr val="F2F6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Hors-hypermarché (petits budgets)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2,5 %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5E3A"/>
                </a:solidFill>
                <a:latin typeface="Calibri"/>
              </a:rPr>
              <a:t>Un seul groupe (les « omnivores engagés ») fait vraiment de la vente directe une habitude.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Vente directe alimentaire — Comité de pilotage — Enquête 1 025 ménages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5.  On y va pour le local, pas pour le prix</a:t>
            </a:r>
          </a:p>
        </p:txBody>
      </p:sp>
      <p:pic>
        <p:nvPicPr>
          <p:cNvPr id="5" name="Picture 4" descr="fig5_motivations_mar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53721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7373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444444"/>
                </a:solidFill>
                <a:latin typeface="Calibri"/>
              </a:rPr>
              <a:t>•  Produits locaux — 51 %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Circuit court — 41 %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Goût des produits — 39 %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Soutien aux agriculteurs — 34 %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444444"/>
                </a:solidFill>
                <a:latin typeface="Calibri"/>
              </a:rPr>
              <a:t>•  Le PRIX seulement 5ᵉ — 18 %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539496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0392B"/>
                </a:solidFill>
                <a:latin typeface="Calibri"/>
              </a:rPr>
              <a:t>→ Communiquer « local &amp; qualité »,</a:t>
            </a:r>
          </a:p>
          <a:p>
            <a:pPr algn="l">
              <a:lnSpc>
                <a:spcPct val="100000"/>
              </a:lnSpc>
            </a:pPr>
            <a:r>
              <a:rPr sz="1800" b="1">
                <a:solidFill>
                  <a:srgbClr val="C0392B"/>
                </a:solidFill>
                <a:latin typeface="Calibri"/>
              </a:rPr>
              <a:t>non « pas cher 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Vente directe alimentaire — Comité de pilotage — Enquête 1 025 ménages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Ce que ça veut dire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566160" cy="420624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109728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E5E3A"/>
                </a:solidFill>
                <a:latin typeface="Calibri"/>
              </a:rPr>
              <a:t>Le potentiel de conquête</a:t>
            </a:r>
          </a:p>
          <a:p>
            <a:pPr algn="l">
              <a:lnSpc>
                <a:spcPct val="100000"/>
              </a:lnSpc>
            </a:pPr>
            <a:r>
              <a:rPr sz="2000" b="1">
                <a:solidFill>
                  <a:srgbClr val="2E5E3A"/>
                </a:solidFill>
                <a:latin typeface="Calibri"/>
              </a:rPr>
              <a:t>est déjà atteint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444444"/>
                </a:solidFill>
                <a:latin typeface="Calibri"/>
              </a:rPr>
              <a:t>65 % ont déjà essayé. Inutile de « convertir » — le levier est de faire passer de l'essai à l'habitude.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3566160" cy="420624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3566160" cy="109728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E5E3A"/>
                </a:solidFill>
                <a:latin typeface="Calibri"/>
              </a:rPr>
              <a:t>Les freins sont pratiques,</a:t>
            </a:r>
          </a:p>
          <a:p>
            <a:pPr algn="l">
              <a:lnSpc>
                <a:spcPct val="100000"/>
              </a:lnSpc>
            </a:pPr>
            <a:r>
              <a:rPr sz="2000" b="1">
                <a:solidFill>
                  <a:srgbClr val="2E5E3A"/>
                </a:solidFill>
                <a:latin typeface="Calibri"/>
              </a:rPr>
              <a:t>pas idéologiques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444444"/>
                </a:solidFill>
                <a:latin typeface="Calibri"/>
              </a:rPr>
              <a:t>Temps, accessibilité, régularité et diversité de l'offre. Pas un problème d'adhésion.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66160" cy="420624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566160" cy="109728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E5E3A"/>
                </a:solidFill>
                <a:latin typeface="Calibri"/>
              </a:rPr>
              <a:t>Cibler large,</a:t>
            </a:r>
          </a:p>
          <a:p>
            <a:pPr algn="l">
              <a:lnSpc>
                <a:spcPct val="100000"/>
              </a:lnSpc>
            </a:pPr>
            <a:r>
              <a:rPr sz="2000" b="1">
                <a:solidFill>
                  <a:srgbClr val="2E5E3A"/>
                </a:solidFill>
                <a:latin typeface="Calibri"/>
              </a:rPr>
              <a:t>pas une niche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0040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444444"/>
                </a:solidFill>
                <a:latin typeface="Calibri"/>
              </a:rPr>
              <a:t>La pratique n'est pas socialement clivante : viser tous les publics, budgets modestes compris.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Vente directe alimentaire — Comité de pilotage — Enquête 1 025 ménages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3 leviers d'action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914400" cy="14173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914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72768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E5E3A"/>
                </a:solidFill>
                <a:latin typeface="Calibri"/>
              </a:rPr>
              <a:t>Miser sur la fidélisation, pas l'acquisition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76272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4444"/>
                </a:solidFill>
                <a:latin typeface="Calibri"/>
              </a:rPr>
              <a:t>Transformer l'essai en habitude : abonnements, points de retrait réguliers, élargissement des gammes.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914400" cy="14173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914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18688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E5E3A"/>
                </a:solidFill>
                <a:latin typeface="Calibri"/>
              </a:rPr>
              <a:t>Lever les freins logistiques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22192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4444"/>
                </a:solidFill>
                <a:latin typeface="Calibri"/>
              </a:rPr>
              <a:t>Horaires, proximité, régularité de l'offre — c'est là que se joue le passage à l'usage régulier.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54880"/>
            <a:ext cx="914400" cy="14173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914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64608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E5E3A"/>
                </a:solidFill>
                <a:latin typeface="Calibri"/>
              </a:rPr>
              <a:t>Communiquer « local &amp; qualité », pas « pas cher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68112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4444"/>
                </a:solidFill>
                <a:latin typeface="Calibri"/>
              </a:rPr>
              <a:t>C'est le registre qui mobilise réellement les ménages.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Vente directe alimentaire — Comité de pilotage — Enquête 1 025 ménages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Méthode &amp; portée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Enquête par questionnaire auprès d'un échantillon représentatif national de 1 025 ménages (quotas sexe, âge, CSP, région).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13 canaux d'achat mesurés : fréquence et part de budget de chacun.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Typologie par analyse des correspondances multiples + classification ; régression sur les déterminants.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« Vente directe » = achat direct au producteur (à la ferme, AMAP, magasins de producteurs, marchés).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937760"/>
            <a:ext cx="10881360" cy="137160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44444"/>
                </a:solidFill>
                <a:latin typeface="Calibri"/>
              </a:rPr>
              <a:t>Limites : enquête transversale (un instantané, pas une évolution dans le temps) ; données déclaratives (fréquences et budgets estimés par les répondants).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Vente directe alimentaire — Comité de pilotage — Enquête 1 025 ménages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9999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